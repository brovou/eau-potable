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89" r:id="rId7"/>
    <p:sldId id="260" r:id="rId8"/>
    <p:sldId id="293" r:id="rId9"/>
    <p:sldId id="258" r:id="rId10"/>
    <p:sldId id="262" r:id="rId11"/>
    <p:sldId id="288" r:id="rId12"/>
    <p:sldId id="290" r:id="rId13"/>
    <p:sldId id="287" r:id="rId14"/>
    <p:sldId id="291" r:id="rId15"/>
    <p:sldId id="283" r:id="rId16"/>
    <p:sldId id="292" r:id="rId17"/>
    <p:sldId id="269" r:id="rId18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741A2-6EB2-43E8-803A-56FA4470B1B9}" v="59" dt="2025-11-04T12:08:26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3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VOU, JUNIOR" userId="9af1b333-08dc-4120-887f-0ecfa4ba2fab" providerId="ADAL" clId="{9EE6703D-AFFB-4282-8D91-E8E061C9C62E}"/>
    <pc:docChg chg="undo custSel addSld delSld modSld">
      <pc:chgData name="BROVOU, JUNIOR" userId="9af1b333-08dc-4120-887f-0ecfa4ba2fab" providerId="ADAL" clId="{9EE6703D-AFFB-4282-8D91-E8E061C9C62E}" dt="2025-11-21T23:06:40.840" v="739" actId="313"/>
      <pc:docMkLst>
        <pc:docMk/>
      </pc:docMkLst>
      <pc:sldChg chg="addSp delSp modSp mod">
        <pc:chgData name="BROVOU, JUNIOR" userId="9af1b333-08dc-4120-887f-0ecfa4ba2fab" providerId="ADAL" clId="{9EE6703D-AFFB-4282-8D91-E8E061C9C62E}" dt="2025-11-21T23:06:40.840" v="739" actId="313"/>
        <pc:sldMkLst>
          <pc:docMk/>
          <pc:sldMk cId="3892131414" sldId="262"/>
        </pc:sldMkLst>
        <pc:spChg chg="mod">
          <ac:chgData name="BROVOU, JUNIOR" userId="9af1b333-08dc-4120-887f-0ecfa4ba2fab" providerId="ADAL" clId="{9EE6703D-AFFB-4282-8D91-E8E061C9C62E}" dt="2025-11-04T11:23:53.959" v="99" actId="1076"/>
          <ac:spMkLst>
            <pc:docMk/>
            <pc:sldMk cId="3892131414" sldId="262"/>
            <ac:spMk id="4" creationId="{315E3981-F0D7-482C-A8E0-6A57700BECA7}"/>
          </ac:spMkLst>
        </pc:spChg>
        <pc:spChg chg="mod">
          <ac:chgData name="BROVOU, JUNIOR" userId="9af1b333-08dc-4120-887f-0ecfa4ba2fab" providerId="ADAL" clId="{9EE6703D-AFFB-4282-8D91-E8E061C9C62E}" dt="2025-11-21T23:06:40.840" v="739" actId="313"/>
          <ac:spMkLst>
            <pc:docMk/>
            <pc:sldMk cId="3892131414" sldId="262"/>
            <ac:spMk id="19" creationId="{782206B1-586F-4254-9B36-D06C4E294ACF}"/>
          </ac:spMkLst>
        </pc:spChg>
        <pc:spChg chg="mod">
          <ac:chgData name="BROVOU, JUNIOR" userId="9af1b333-08dc-4120-887f-0ecfa4ba2fab" providerId="ADAL" clId="{9EE6703D-AFFB-4282-8D91-E8E061C9C62E}" dt="2025-11-21T23:05:08.291" v="659" actId="14100"/>
          <ac:spMkLst>
            <pc:docMk/>
            <pc:sldMk cId="3892131414" sldId="262"/>
            <ac:spMk id="20" creationId="{CB924A29-3538-4A3F-82A6-D2A7538C2111}"/>
          </ac:spMkLst>
        </pc:spChg>
        <pc:spChg chg="mod">
          <ac:chgData name="BROVOU, JUNIOR" userId="9af1b333-08dc-4120-887f-0ecfa4ba2fab" providerId="ADAL" clId="{9EE6703D-AFFB-4282-8D91-E8E061C9C62E}" dt="2025-11-21T23:04:26.413" v="630" actId="20577"/>
          <ac:spMkLst>
            <pc:docMk/>
            <pc:sldMk cId="3892131414" sldId="262"/>
            <ac:spMk id="21" creationId="{1B8F0371-4F69-4131-91BF-9AB99E6EE89B}"/>
          </ac:spMkLst>
        </pc:spChg>
        <pc:spChg chg="add mod">
          <ac:chgData name="BROVOU, JUNIOR" userId="9af1b333-08dc-4120-887f-0ecfa4ba2fab" providerId="ADAL" clId="{9EE6703D-AFFB-4282-8D91-E8E061C9C62E}" dt="2025-11-04T11:30:09.862" v="169" actId="1035"/>
          <ac:spMkLst>
            <pc:docMk/>
            <pc:sldMk cId="3892131414" sldId="262"/>
            <ac:spMk id="24" creationId="{E256335C-CE0D-A0C4-3DB9-F0FEBC4BDA1D}"/>
          </ac:spMkLst>
        </pc:spChg>
        <pc:spChg chg="add mod">
          <ac:chgData name="BROVOU, JUNIOR" userId="9af1b333-08dc-4120-887f-0ecfa4ba2fab" providerId="ADAL" clId="{9EE6703D-AFFB-4282-8D91-E8E061C9C62E}" dt="2025-11-04T11:29:09.519" v="154" actId="14100"/>
          <ac:spMkLst>
            <pc:docMk/>
            <pc:sldMk cId="3892131414" sldId="262"/>
            <ac:spMk id="26" creationId="{EAB701A1-571E-89AE-3512-AC3658737C9E}"/>
          </ac:spMkLst>
        </pc:spChg>
        <pc:picChg chg="add mod">
          <ac:chgData name="BROVOU, JUNIOR" userId="9af1b333-08dc-4120-887f-0ecfa4ba2fab" providerId="ADAL" clId="{9EE6703D-AFFB-4282-8D91-E8E061C9C62E}" dt="2025-11-04T11:29:54.113" v="163" actId="1076"/>
          <ac:picMkLst>
            <pc:docMk/>
            <pc:sldMk cId="3892131414" sldId="262"/>
            <ac:picMk id="14" creationId="{2AAD62B7-6798-1260-21A8-87B37A5CAEC8}"/>
          </ac:picMkLst>
        </pc:picChg>
        <pc:picChg chg="add mod">
          <ac:chgData name="BROVOU, JUNIOR" userId="9af1b333-08dc-4120-887f-0ecfa4ba2fab" providerId="ADAL" clId="{9EE6703D-AFFB-4282-8D91-E8E061C9C62E}" dt="2025-11-04T11:29:40.812" v="161" actId="1076"/>
          <ac:picMkLst>
            <pc:docMk/>
            <pc:sldMk cId="3892131414" sldId="262"/>
            <ac:picMk id="15" creationId="{8F7FF868-F9BA-6AA7-9EF6-A21E4500CE66}"/>
          </ac:picMkLst>
        </pc:picChg>
        <pc:picChg chg="mod">
          <ac:chgData name="BROVOU, JUNIOR" userId="9af1b333-08dc-4120-887f-0ecfa4ba2fab" providerId="ADAL" clId="{9EE6703D-AFFB-4282-8D91-E8E061C9C62E}" dt="2025-11-04T11:29:36.565" v="160" actId="1076"/>
          <ac:picMkLst>
            <pc:docMk/>
            <pc:sldMk cId="3892131414" sldId="262"/>
            <ac:picMk id="31" creationId="{089E8AB6-C16E-4752-810F-8F98DB929DB5}"/>
          </ac:picMkLst>
        </pc:picChg>
      </pc:sldChg>
      <pc:sldChg chg="del">
        <pc:chgData name="BROVOU, JUNIOR" userId="9af1b333-08dc-4120-887f-0ecfa4ba2fab" providerId="ADAL" clId="{9EE6703D-AFFB-4282-8D91-E8E061C9C62E}" dt="2025-11-04T12:10:03.815" v="554" actId="2696"/>
        <pc:sldMkLst>
          <pc:docMk/>
          <pc:sldMk cId="663103393" sldId="264"/>
        </pc:sldMkLst>
      </pc:sldChg>
      <pc:sldChg chg="del">
        <pc:chgData name="BROVOU, JUNIOR" userId="9af1b333-08dc-4120-887f-0ecfa4ba2fab" providerId="ADAL" clId="{9EE6703D-AFFB-4282-8D91-E8E061C9C62E}" dt="2025-11-04T12:10:07.576" v="555" actId="2696"/>
        <pc:sldMkLst>
          <pc:docMk/>
          <pc:sldMk cId="1065425595" sldId="266"/>
        </pc:sldMkLst>
      </pc:sldChg>
      <pc:sldChg chg="del">
        <pc:chgData name="BROVOU, JUNIOR" userId="9af1b333-08dc-4120-887f-0ecfa4ba2fab" providerId="ADAL" clId="{9EE6703D-AFFB-4282-8D91-E8E061C9C62E}" dt="2025-11-04T12:10:16.429" v="557" actId="2696"/>
        <pc:sldMkLst>
          <pc:docMk/>
          <pc:sldMk cId="914134537" sldId="267"/>
        </pc:sldMkLst>
      </pc:sldChg>
      <pc:sldChg chg="del">
        <pc:chgData name="BROVOU, JUNIOR" userId="9af1b333-08dc-4120-887f-0ecfa4ba2fab" providerId="ADAL" clId="{9EE6703D-AFFB-4282-8D91-E8E061C9C62E}" dt="2025-11-04T12:10:21.212" v="558" actId="2696"/>
        <pc:sldMkLst>
          <pc:docMk/>
          <pc:sldMk cId="44069682" sldId="268"/>
        </pc:sldMkLst>
      </pc:sldChg>
      <pc:sldChg chg="addSp delSp modSp mod">
        <pc:chgData name="BROVOU, JUNIOR" userId="9af1b333-08dc-4120-887f-0ecfa4ba2fab" providerId="ADAL" clId="{9EE6703D-AFFB-4282-8D91-E8E061C9C62E}" dt="2025-11-04T12:09:52.669" v="553" actId="20577"/>
        <pc:sldMkLst>
          <pc:docMk/>
          <pc:sldMk cId="451187730" sldId="283"/>
        </pc:sldMkLst>
        <pc:spChg chg="mod">
          <ac:chgData name="BROVOU, JUNIOR" userId="9af1b333-08dc-4120-887f-0ecfa4ba2fab" providerId="ADAL" clId="{9EE6703D-AFFB-4282-8D91-E8E061C9C62E}" dt="2025-11-04T12:09:52.669" v="553" actId="20577"/>
          <ac:spMkLst>
            <pc:docMk/>
            <pc:sldMk cId="451187730" sldId="283"/>
            <ac:spMk id="4" creationId="{315E3981-F0D7-482C-A8E0-6A57700BECA7}"/>
          </ac:spMkLst>
        </pc:spChg>
        <pc:spChg chg="add mod">
          <ac:chgData name="BROVOU, JUNIOR" userId="9af1b333-08dc-4120-887f-0ecfa4ba2fab" providerId="ADAL" clId="{9EE6703D-AFFB-4282-8D91-E8E061C9C62E}" dt="2025-11-04T11:57:55.572" v="308" actId="1076"/>
          <ac:spMkLst>
            <pc:docMk/>
            <pc:sldMk cId="451187730" sldId="283"/>
            <ac:spMk id="13" creationId="{A31CBDAA-2293-7857-294E-39758717884F}"/>
          </ac:spMkLst>
        </pc:spChg>
      </pc:sldChg>
      <pc:sldChg chg="del">
        <pc:chgData name="BROVOU, JUNIOR" userId="9af1b333-08dc-4120-887f-0ecfa4ba2fab" providerId="ADAL" clId="{9EE6703D-AFFB-4282-8D91-E8E061C9C62E}" dt="2025-11-04T12:10:11.385" v="556" actId="2696"/>
        <pc:sldMkLst>
          <pc:docMk/>
          <pc:sldMk cId="3322300142" sldId="284"/>
        </pc:sldMkLst>
      </pc:sldChg>
      <pc:sldChg chg="del">
        <pc:chgData name="BROVOU, JUNIOR" userId="9af1b333-08dc-4120-887f-0ecfa4ba2fab" providerId="ADAL" clId="{9EE6703D-AFFB-4282-8D91-E8E061C9C62E}" dt="2025-11-04T12:10:23.705" v="559" actId="2696"/>
        <pc:sldMkLst>
          <pc:docMk/>
          <pc:sldMk cId="59582380" sldId="285"/>
        </pc:sldMkLst>
      </pc:sldChg>
      <pc:sldChg chg="modSp add mod">
        <pc:chgData name="BROVOU, JUNIOR" userId="9af1b333-08dc-4120-887f-0ecfa4ba2fab" providerId="ADAL" clId="{9EE6703D-AFFB-4282-8D91-E8E061C9C62E}" dt="2025-11-04T12:09:48.347" v="551" actId="20577"/>
        <pc:sldMkLst>
          <pc:docMk/>
          <pc:sldMk cId="3126906890" sldId="287"/>
        </pc:sldMkLst>
        <pc:spChg chg="mod">
          <ac:chgData name="BROVOU, JUNIOR" userId="9af1b333-08dc-4120-887f-0ecfa4ba2fab" providerId="ADAL" clId="{9EE6703D-AFFB-4282-8D91-E8E061C9C62E}" dt="2025-11-04T12:09:48.347" v="551" actId="20577"/>
          <ac:spMkLst>
            <pc:docMk/>
            <pc:sldMk cId="3126906890" sldId="287"/>
            <ac:spMk id="4" creationId="{38948FB7-A2C7-8E62-14F3-D81E59784AAA}"/>
          </ac:spMkLst>
        </pc:spChg>
        <pc:spChg chg="mod">
          <ac:chgData name="BROVOU, JUNIOR" userId="9af1b333-08dc-4120-887f-0ecfa4ba2fab" providerId="ADAL" clId="{9EE6703D-AFFB-4282-8D91-E8E061C9C62E}" dt="2025-11-04T12:08:45.718" v="528" actId="404"/>
          <ac:spMkLst>
            <pc:docMk/>
            <pc:sldMk cId="3126906890" sldId="287"/>
            <ac:spMk id="13" creationId="{6DDBB3C8-D2A9-4842-6130-3E49483DDFA6}"/>
          </ac:spMkLst>
        </pc:spChg>
      </pc:sldChg>
      <pc:sldChg chg="modSp add mod">
        <pc:chgData name="BROVOU, JUNIOR" userId="9af1b333-08dc-4120-887f-0ecfa4ba2fab" providerId="ADAL" clId="{9EE6703D-AFFB-4282-8D91-E8E061C9C62E}" dt="2025-11-04T12:11:35.129" v="597" actId="6549"/>
        <pc:sldMkLst>
          <pc:docMk/>
          <pc:sldMk cId="511830726" sldId="288"/>
        </pc:sldMkLst>
        <pc:spChg chg="mod">
          <ac:chgData name="BROVOU, JUNIOR" userId="9af1b333-08dc-4120-887f-0ecfa4ba2fab" providerId="ADAL" clId="{9EE6703D-AFFB-4282-8D91-E8E061C9C62E}" dt="2025-11-04T12:09:43.685" v="549" actId="20577"/>
          <ac:spMkLst>
            <pc:docMk/>
            <pc:sldMk cId="511830726" sldId="288"/>
            <ac:spMk id="4" creationId="{86F5669F-B8E8-F5BC-5CB0-3EF6F33A99A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CD784F2-097A-4060-8FF3-6FB91EC3D7DB}" type="datetime1">
              <a:rPr lang="fr-FR" smtClean="0"/>
              <a:t>26/11/2025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BF86344-02EE-4788-B238-DABD819F9A49}" type="datetime1">
              <a:rPr lang="fr-FR" noProof="0" smtClean="0"/>
              <a:t>26/11/2025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429DF-68E9-2CB0-3FDB-FB5279D0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6E5278C-3A7E-3E6F-F4F3-6349051D0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4C3513-F305-1558-AFEF-599F776F4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7174BE-A164-5D15-6D3A-FCC288E3A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875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0CFC-35E4-160D-51EA-E7C28FE0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EDDEC3C-D90A-36B6-EF27-048E56323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28A2D70-AE78-D570-89C7-4576FF071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F183B8-9F19-DBDC-53E3-DDA160635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679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59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D17B-A035-BEB9-5EAB-D2B3EFD9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C0D0DC8-79A8-3FFB-2467-FF1415CD6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85633C-ADF1-F434-F9C0-C08C45DA8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1C98CD-228D-0F55-3BF7-C00D67897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755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309C-1202-94B1-8263-2F4CC405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48C8F37-095E-4021-2BA7-8531D49D2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B9A640F-E691-7F58-C334-B43FDE8C9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65DB7-4CAE-87BF-F687-D3E84002B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9738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1471-B54E-233E-0677-F758B726A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663776A-9C4F-7098-8534-88CDB7677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E769E44-3831-59B3-BE82-25DB785D3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092321-1FB2-6822-71EE-73F4D8E41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359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621D-3134-00A4-DCB2-4E3FFFE3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BDBA37F-5423-1ADE-2F08-13334AE0D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8EEF5B3-A0EF-B1E0-83AA-365FD5D2D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C1D605-FF66-409C-A09F-310396C85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208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446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5B447-3C0E-E474-020C-92365531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865DA50-24E8-5578-EC64-D69815894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7223A4A-8C70-CE79-1498-ACDB0DD4B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9C41B0-BAD8-C4C0-C47F-DFFBE6E16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222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orme libre : Forme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7" name="Triangle rectangle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8" name="Triangle droit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9" name="Triangle droit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  <p:sp>
          <p:nvSpPr>
            <p:cNvPr id="9" name="Forme libre : Form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11" name="Forme libre : Form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  <p:sp>
            <p:nvSpPr>
              <p:cNvPr id="14" name="Forme libre : Form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noProof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Triangle droit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Forme libre : Forme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orme libre : Form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noProof="0"/>
            </a:p>
          </p:txBody>
        </p:sp>
      </p:grpSp>
      <p:sp>
        <p:nvSpPr>
          <p:cNvPr id="29" name="Forme libre : Forme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3" name="Forme libre : Forme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fr-FR" noProof="0"/>
              <a:t>Modifiez les styles du texte du masque</a:t>
            </a:r>
          </a:p>
        </p:txBody>
      </p:sp>
      <p:sp>
        <p:nvSpPr>
          <p:cNvPr id="35" name="Espace réservé du numéro de diapositive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fr-FR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Guillemet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e+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8" name="Espace réservé du contenu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égori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0" name="Espace réservé d’image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’image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2" name="Espace réservé d’image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3" name="Espace réservé d’image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4" name="Espace réservé d’image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8" name="Espace réservé du texte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ec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7" name="Espace réservé du texte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0" name="Espace réservé d’image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Modifiez le style du titre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Forme libre : Form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0" name="Forme libre : Form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21" name="Forme libre : Form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Forme libre : Form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orme libre : Form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26" name="Forme libre : Forme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30" name="Forme libre : Form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1" name="Espace réservé du numéro de diapositive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Triangle rectangle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8" name="Triangle droit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9" name="Triangle droit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Forme libre : Form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8" name="Forme libre : Form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/>
          </a:p>
        </p:txBody>
      </p:sp>
      <p:sp>
        <p:nvSpPr>
          <p:cNvPr id="9" name="Forme libre : Form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Forme libre : Form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fr-FR" noProof="0">
                <a:latin typeface="+mj-lt"/>
              </a:rPr>
              <a:t>Modifiez le style du titre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orme libre : Form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4" name="Forme libre : Forme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 : Coin rogné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noProof="0"/>
            </a:p>
          </p:txBody>
        </p:sp>
        <p:sp>
          <p:nvSpPr>
            <p:cNvPr id="17" name="Rectangle : Coin rogné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8" name="Forme libre : Form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who.int/gho/data/node.main.WSHWATER?lang=e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ps.who.int/gho/data/view.main.SDGWSHBOD392v?lang=en" TargetMode="External"/><Relationship Id="rId5" Type="http://schemas.openxmlformats.org/officeDocument/2006/relationships/hyperlink" Target="https://www.kaggle.com/datasets/andreshg/countries-iso-codes-continent-flags-url" TargetMode="External"/><Relationship Id="rId4" Type="http://schemas.openxmlformats.org/officeDocument/2006/relationships/hyperlink" Target="http://www.fao.org/faostat/en/#data/F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2716" y="3243357"/>
            <a:ext cx="10047768" cy="1243584"/>
          </a:xfrm>
        </p:spPr>
        <p:txBody>
          <a:bodyPr rtlCol="0"/>
          <a:lstStyle/>
          <a:p>
            <a:pPr rtl="0"/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ETUDE D’ACCÈS À L’EAU POTABLE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2716" y="4486941"/>
            <a:ext cx="9274568" cy="371927"/>
          </a:xfrm>
        </p:spPr>
        <p:txBody>
          <a:bodyPr rtlCol="0">
            <a:normAutofit/>
          </a:bodyPr>
          <a:lstStyle/>
          <a:p>
            <a:r>
              <a:rPr lang="fr-FR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DWFA – Accès à l’eau potable : prioriser les pays et les leviers d’action</a:t>
            </a:r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33F853-A4DA-0055-9A9F-4E5A185C1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287" y="966430"/>
            <a:ext cx="30194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011" y="68353"/>
            <a:ext cx="7781544" cy="859055"/>
          </a:xfrm>
        </p:spPr>
        <p:txBody>
          <a:bodyPr rtlCol="0"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et enjeux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7011" y="927408"/>
            <a:ext cx="6803136" cy="291444"/>
          </a:xfrm>
        </p:spPr>
        <p:txBody>
          <a:bodyPr rtlCol="0">
            <a:normAutofit/>
          </a:bodyPr>
          <a:lstStyle/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stratégique pour l’accès universel à l’eau potable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17297C1-0D12-03B3-4FF9-A2CBE25AA6AD}"/>
              </a:ext>
            </a:extLst>
          </p:cNvPr>
          <p:cNvSpPr txBox="1"/>
          <p:nvPr/>
        </p:nvSpPr>
        <p:spPr>
          <a:xfrm>
            <a:off x="313487" y="1218852"/>
            <a:ext cx="11132288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Pourquoi ce projet?</a:t>
            </a:r>
          </a:p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DWFA (</a:t>
            </a:r>
            <a:r>
              <a:rPr lang="fr-FR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Drinking</a:t>
            </a:r>
            <a:r>
              <a:rPr lang="fr-F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Water For All)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une ONG qui veut accélérer l’accès universel à l’eau potable en ciblant mieux ses investissements. Elle présente trois domaines d’expertise 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services d’accès à l’eau potable.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Modernisation de services existants.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Consulting auprès des administrations/gouvernements sur les politiques d’accès à l’eau.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vision du tableau de bord pour DWFA est de 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Montrer où agir (priorisation).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Justifier la faisabilité par pays.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Rendre la décision transparente et traçable.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L’impact attendu est une meilleure allocation des financements, le pilotage multi-niveaux (Monde/Continent/Pays).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0E1AF-3DEA-AEDA-EC21-A4AB5DA6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34E65DB-F96F-9E5D-A3DF-3D7376DF0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011" y="68353"/>
            <a:ext cx="7781544" cy="859055"/>
          </a:xfrm>
        </p:spPr>
        <p:txBody>
          <a:bodyPr rtlCol="0"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et enjeux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35B8B2-A518-FB0E-7F8B-75B59E590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7011" y="927408"/>
            <a:ext cx="6803136" cy="291444"/>
          </a:xfrm>
        </p:spPr>
        <p:txBody>
          <a:bodyPr rtlCol="0">
            <a:normAutofit/>
          </a:bodyPr>
          <a:lstStyle/>
          <a:p>
            <a: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stratégique pour l’accès universel à l’eau potable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E7727F0-C0B1-8AEC-DF74-285476DA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3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B9BA99-D76A-DA32-9E06-16918DDD8630}"/>
              </a:ext>
            </a:extLst>
          </p:cNvPr>
          <p:cNvSpPr txBox="1"/>
          <p:nvPr/>
        </p:nvSpPr>
        <p:spPr>
          <a:xfrm>
            <a:off x="62564" y="1218852"/>
            <a:ext cx="12066872" cy="5499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Objectifs mesurables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 les zones prioritaires (score SPD/SDA/SOI par continent)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Comparer les pays d’un continent (Non desservis, qualité(écart), mortalité, stabilité)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Justifier un choix pays (séries 10 à 15 ans, fiabilité (efficacité), stimulation d’impact)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Inventaires des fichiers sources 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BasicAndSafelyManagedDrinkingWaterServices.csv : Accès à l’eau potable de base par pays/année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PoliticalStability.csv : Indice de stabilité politique par pays/année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Population.csv : Population (totale, urbaine, rurale, male et femelle) par pays/année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RegionCountry.csv renommé en </a:t>
            </a:r>
            <a:r>
              <a:rPr lang="fr-CI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DimCountryIso3.csv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Codes pays (ISO3), région, sous-région</a:t>
            </a:r>
          </a:p>
          <a:p>
            <a:pPr marL="800100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MortalityRateAttributedToWater.csv : Taux de mortalité lié à l’eau insalubre par pays/année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des données</a:t>
            </a:r>
          </a:p>
          <a:p>
            <a:pPr marL="788988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BasicAndSafelyManagedDrinkingWaterServices.csv :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https://apps.who.int/gho/data/node.main.WSHWATER?lang=en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8988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PoliticalStability.csv : </a:t>
            </a:r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http://www.fao.org/faostat/en/#data/FS</a:t>
            </a:r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88988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Population.csv :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http://www.fao.org/faostat/en/#data/FS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88988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RegionCountry.csv 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https://www.kaggle.com/datasets/andreshg/countries-iso-codes-continent-flags-url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8988" lvl="1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MortalityRateAttributedToWater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.csv :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https://apps.who.int/gho/data/view.main.SDGWSHBOD392v?lang=en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06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011" y="0"/>
            <a:ext cx="8790361" cy="859055"/>
          </a:xfrm>
        </p:spPr>
        <p:txBody>
          <a:bodyPr rtlCol="0">
            <a:norm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Pré-traitements des données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676" y="779646"/>
            <a:ext cx="11762648" cy="5900554"/>
          </a:xfrm>
        </p:spPr>
        <p:txBody>
          <a:bodyPr rtlCol="0">
            <a:normAutofit fontScale="92500" lnSpcReduction="20000"/>
          </a:bodyPr>
          <a:lstStyle/>
          <a:p>
            <a:pPr marL="46038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Périmètre et sources</a:t>
            </a:r>
          </a:p>
          <a:p>
            <a:pPr marL="731838" lvl="1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Grain des faits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Pays (ISO3) × Année. </a:t>
            </a:r>
          </a:p>
          <a:p>
            <a:pPr marL="731838" lvl="1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CI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Dimensions de référence</a:t>
            </a: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189038" lvl="2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DimCountryIso3 (ISO3, nom pays, région, sous-région)</a:t>
            </a:r>
          </a:p>
          <a:p>
            <a:pPr marL="1189038" lvl="2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Date_Year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(Année, périodes N/N-1, bornes temporelles).</a:t>
            </a:r>
          </a:p>
          <a:p>
            <a:pPr marL="731838" lvl="1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de faits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Fichiers ources.</a:t>
            </a:r>
          </a:p>
          <a:p>
            <a:pPr marL="731838" lvl="1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Origine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fichiers des partenaires (DWFA/banques de données publiques) + dictionnaire de données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 et harmonisation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Nettoyage des libellés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Pays : “Côte d’Ivoire”, → </a:t>
            </a:r>
            <a:r>
              <a:rPr lang="fr-CI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ISO3 = CIV</a:t>
            </a: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“DR Congo”, “Democratic Republic of Congo.” → </a:t>
            </a:r>
            <a:r>
              <a:rPr lang="fr-CI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</a:t>
            </a: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→ “Eau gérée en sécurité” (libellé unique dans tout le modèle).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Formats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Dates homogénéisées au format </a:t>
            </a: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(entier)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Pourcentages stockés en </a:t>
            </a: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décimal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0–100 (pas 0–1), cohérent avec l’affichage.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Clés de jointure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Faits </a:t>
            </a: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DimCountryIso3[ISO3] et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Date_Year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[Year] (jointures 1-*).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Contrôle de la cardinalité : Tout fait doit correspondre à </a:t>
            </a: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pays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année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(sinon rejet en “quarantaine”).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D631-C637-E628-C7FF-588E1D52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B2416A-AF2D-A36A-F140-8B711703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011" y="0"/>
            <a:ext cx="8790361" cy="859055"/>
          </a:xfrm>
        </p:spPr>
        <p:txBody>
          <a:bodyPr rtlCol="0">
            <a:norm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Pré-traitements des données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87CC55-58E8-A5F8-3084-3929694F5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676" y="779646"/>
            <a:ext cx="11762648" cy="5900554"/>
          </a:xfrm>
        </p:spPr>
        <p:txBody>
          <a:bodyPr rtlCol="0"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calculées</a:t>
            </a:r>
          </a:p>
          <a:p>
            <a:pPr marL="731838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Agrégation : Pondération population, Accès % monde = </a:t>
            </a:r>
            <a:r>
              <a:rPr lang="el-G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Σ(pop*accès)/Σ(pop)</a:t>
            </a: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Non‑desservis = Σ(pop*(1−accès%))</a:t>
            </a:r>
          </a:p>
          <a:p>
            <a:pPr marL="731838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: Indicateurs utiles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Ecart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qualité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Base% − Safely% (pp, 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Efficacité = 0.5*Accès + 0.5*(100−Mortalité </a:t>
            </a: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.). Sert à orienter Création/Extension (écart faible) vs Modernisation/O&amp;M (écart élevé).</a:t>
            </a:r>
          </a:p>
          <a:p>
            <a:pPr marL="731838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 domaines (CREA / MOD / CONS)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échelle </a:t>
            </a: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0–100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189038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Priorisation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(SPD) = Combinaison pondérée des besoins (accès, non-desservis, tendance)</a:t>
            </a:r>
          </a:p>
          <a:p>
            <a:pPr marL="1189038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(SDA) = Instabilité politique, rural gap, contraintes d’exécution</a:t>
            </a:r>
          </a:p>
          <a:p>
            <a:pPr marL="1189038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Opportunité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(SOI) = Efficacité attendue, stabilité, tendance d’accès.</a:t>
            </a:r>
          </a:p>
          <a:p>
            <a:pPr marL="446088" lvl="1" indent="0">
              <a:lnSpc>
                <a:spcPct val="150000"/>
              </a:lnSpc>
              <a:buNone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pondérations sont paramétrables (</a:t>
            </a: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-If) et visibles dans le modèle (W CREA a/b/c, W MOD d/e, W CONS w1/w2).</a:t>
            </a:r>
          </a:p>
          <a:p>
            <a:pPr marL="731838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CI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Indicateurs de tendance </a:t>
            </a:r>
          </a:p>
          <a:p>
            <a:pPr marL="1189038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Variation N vs N-1 sur non-desservis en millions (+% affiché).</a:t>
            </a:r>
          </a:p>
          <a:p>
            <a:pPr marL="1189038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Courbe “Tendance mondiale Accès à l’eau” basée sur l’agrégat pondéré</a:t>
            </a:r>
          </a:p>
          <a:p>
            <a:pPr marL="171450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fr-CI" sz="2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Seuils, filtres &amp; règles d’éligibilité </a:t>
            </a:r>
          </a:p>
          <a:p>
            <a:pPr marL="971550" lvl="1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Seuil de stabilité (</a:t>
            </a:r>
            <a:r>
              <a:rPr lang="fr-FR" sz="15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-If)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Filtre analytique Seuil de stabilité de passage = 1 → un pays/point </a:t>
            </a: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 sa stabilité normalisée ≥ seuil choisi. </a:t>
            </a:r>
          </a:p>
          <a:p>
            <a:pPr lvl="1" indent="0">
              <a:lnSpc>
                <a:spcPct val="160000"/>
              </a:lnSpc>
              <a:buNone/>
            </a:pPr>
            <a:r>
              <a:rPr lang="fr-FR" sz="15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Éviter de recommander des opérations lourdes là où le risque politique est trop élevé (on bascule alors vers Consulting/Politiques).</a:t>
            </a:r>
          </a:p>
          <a:p>
            <a:pPr marL="971550" lvl="1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Granularité 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Total / Urbain / Rural (pour comparer l’</a:t>
            </a:r>
            <a:r>
              <a:rPr lang="fr-FR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écrat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urbain-rural).</a:t>
            </a:r>
          </a:p>
          <a:p>
            <a:pPr marL="971550" lvl="1" indent="-28575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Contrôles d’affichage</a:t>
            </a:r>
            <a:r>
              <a:rPr lang="fr-FR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Toutes les valeurs chartées sont post-bornage et post-imputation (pas de % &lt;0 ou &gt;100, pas de mort. négative).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8BCFE46-5EB6-6EA8-E740-8C59D191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3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205" y="85725"/>
            <a:ext cx="6538191" cy="840230"/>
          </a:xfrm>
        </p:spPr>
        <p:txBody>
          <a:bodyPr rtlCol="0"/>
          <a:lstStyle/>
          <a:p>
            <a:pPr rtl="0"/>
            <a:r>
              <a:rPr lang="fr-FR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endParaRPr lang="fr-F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80" y="796194"/>
            <a:ext cx="11584017" cy="2125730"/>
          </a:xfrm>
        </p:spPr>
        <p:txBody>
          <a:bodyPr rtlCol="0"/>
          <a:lstStyle/>
          <a:p>
            <a:pPr marL="0" indent="0">
              <a:buNone/>
            </a:pP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tableau ci-dessous reprend les détails essentiels nécessaires pour le tableau de bord. </a:t>
            </a:r>
          </a:p>
          <a:p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Besoin utilisateurs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Décrit brièvement les interactions des utilisateurs avec les données pour cette exigence (par exemple, les filtres</a:t>
            </a:r>
          </a:p>
          <a:p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Mesures spécifiques à utiliser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s'agit de la liste des paramètres et de tous les paramètres calculés qui seront utilisés pour cette</a:t>
            </a:r>
          </a:p>
          <a:p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Visualisations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type de visualisation qui pourrait être utilisé pour cette exigence (par exemple, un diagramme à barres)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6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F1CB10-FF79-8F01-F022-0A05793A0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" y="2642791"/>
            <a:ext cx="5202762" cy="182761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16C57C3-5115-3855-7D93-D6248454D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212" y="3043198"/>
            <a:ext cx="5908915" cy="30378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678E539-2776-9DAD-4388-82AA886D5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" y="4562123"/>
            <a:ext cx="5202762" cy="207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19736"/>
            <a:ext cx="11214100" cy="535531"/>
          </a:xfrm>
        </p:spPr>
        <p:txBody>
          <a:bodyPr rtlCol="0"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Raisons du choix de la visualisation pour les vues multi-niveaux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95966" y="3951594"/>
            <a:ext cx="1776140" cy="957215"/>
          </a:xfrm>
        </p:spPr>
        <p:txBody>
          <a:bodyPr rtlCol="0"/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Vue pays : </a:t>
            </a:r>
            <a:r>
              <a:rPr lang="fr-FR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Savoir pourquoi le choix du pays, la faisabilité et le domaine à améliorer.</a:t>
            </a:r>
            <a:endParaRPr lang="fr-FR" sz="2000" b="1" dirty="0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33996" y="4040588"/>
            <a:ext cx="1986005" cy="766616"/>
          </a:xfrm>
        </p:spPr>
        <p:txBody>
          <a:bodyPr rtlCol="0"/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Vue continentale : </a:t>
            </a:r>
            <a:r>
              <a:rPr lang="fr-FR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Chercher quel pays prioriser</a:t>
            </a:r>
            <a:endParaRPr lang="fr-FR" sz="2000" b="1" dirty="0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893" y="3951595"/>
            <a:ext cx="1776140" cy="855608"/>
          </a:xfrm>
        </p:spPr>
        <p:txBody>
          <a:bodyPr rtlCol="0"/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Vue mondiale : </a:t>
            </a:r>
            <a:r>
              <a:rPr lang="fr-FR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Chercher où sont les difficultés.</a:t>
            </a:r>
            <a:endParaRPr lang="fr-FR" sz="2000" b="1" dirty="0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Espace réservé d’image 30" descr="Loupe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576325" y="2586374"/>
            <a:ext cx="1066720" cy="1066720"/>
          </a:xfr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7</a:t>
            </a:fld>
            <a:endParaRPr lang="fr-FR"/>
          </a:p>
        </p:txBody>
      </p:sp>
      <p:pic>
        <p:nvPicPr>
          <p:cNvPr id="14" name="Espace réservé d’image 30" descr="Loupe">
            <a:extLst>
              <a:ext uri="{FF2B5EF4-FFF2-40B4-BE49-F238E27FC236}">
                <a16:creationId xmlns:a16="http://schemas.microsoft.com/office/drawing/2014/main" id="{2AAD62B7-6798-1260-21A8-87B37A5CA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050677" y="2582696"/>
            <a:ext cx="1066719" cy="1066719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</p:pic>
      <p:pic>
        <p:nvPicPr>
          <p:cNvPr id="15" name="Espace réservé d’image 30" descr="Loupe">
            <a:extLst>
              <a:ext uri="{FF2B5EF4-FFF2-40B4-BE49-F238E27FC236}">
                <a16:creationId xmlns:a16="http://schemas.microsoft.com/office/drawing/2014/main" id="{8F7FF868-F9BA-6AA7-9EF6-A21E4500C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074604" y="2582696"/>
            <a:ext cx="1066719" cy="1066719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E256335C-CE0D-A0C4-3DB9-F0FEBC4BDA1D}"/>
              </a:ext>
            </a:extLst>
          </p:cNvPr>
          <p:cNvSpPr txBox="1"/>
          <p:nvPr/>
        </p:nvSpPr>
        <p:spPr>
          <a:xfrm>
            <a:off x="488949" y="481248"/>
            <a:ext cx="11464752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L’outil choisi est un tableau de bord interactif qui combine indicateurs clés, graphiques et filtres dynamiques. Sa pertinence repose sur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Clarté et synthèse : Les indicateurs critiques (mortalité due à l’eau, accès à l’eau, besoin en eau, stabilité politique, indice de priorité) sont affichés en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cartouches colorées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une lecture immédiate.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Multi-niveaux d’analyse :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AB701A1-571E-89AE-3512-AC3658737C9E}"/>
              </a:ext>
            </a:extLst>
          </p:cNvPr>
          <p:cNvSpPr txBox="1"/>
          <p:nvPr/>
        </p:nvSpPr>
        <p:spPr>
          <a:xfrm>
            <a:off x="488949" y="5055680"/>
            <a:ext cx="11464751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Interactivité : Filtres par pays, année, granularité et scénarios (curseurs à gauche) pour simuler des hypothèses.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Prise de décision rapide : Les graphiques (barres, courbes, bulles) facilitent la compréhension des tendances et des corrélations.</a:t>
            </a:r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B013-8454-753C-23E8-F3B2A1EA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6F5669F-B8E8-F5BC-5CB0-3EF6F33A9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17414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Vue Mondiale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78503BF-1249-8EED-1F9C-F6417E95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8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85FD810-CBCF-27D2-8A46-8A9DDD2E6D43}"/>
              </a:ext>
            </a:extLst>
          </p:cNvPr>
          <p:cNvSpPr txBox="1"/>
          <p:nvPr/>
        </p:nvSpPr>
        <p:spPr>
          <a:xfrm>
            <a:off x="202276" y="436271"/>
            <a:ext cx="11989724" cy="6453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que montre la vue MONDE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d’accès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L’accès de base pondéré atteint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85,6 %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La tendance longue est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la hausse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(zone bleue en bas).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de besoin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La population non desservie ≈ 9,09 M et augmente vs N-1 (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+1,4 M / +6,1 %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la progression globale ne profite pas encore à tous.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de risque/impact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La mortalité liée à l’eau ≈ 12,49 / 100 000 reste significative..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Comparatif par continent (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Priorisation / Difficulté / Opportunité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Afrique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concentrent le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 gros potentiel d’impact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(volumes non desservis + opportunité) avec des contraintes opérationnelles variables (difficulté/stabilité).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Amériques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Besoin plus hétérogène, opportunités ciblées.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Océanie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Faible priorisation globale, mais poches résiduelles (îles/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ultraphéries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monde s’améliore en moyenne, mais les poches critiques grossissent; nous devons 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re-prioriser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accélérer là où le gain marginal de couverture est le plus élevé et exécutable.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CI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Implications par domaine d’expertise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services </a:t>
            </a:r>
          </a:p>
          <a:p>
            <a:pPr lvl="1">
              <a:lnSpc>
                <a:spcPct val="150000"/>
              </a:lnSpc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Où agir en premier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Afrique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Besoin de création élevé et difficultés fortes (priorisation ~46, difficulté ~77, opportunité ~68). Cibles naturelles : Afrique centrale/est (faible accès de base, écart rural/urbain élevé).. 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pockets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 Priorisation élevée (~86) avec difficulté plus contenue (~52). Cibles : Asie du Sud/centrale hors grands pays déjà couverts.</a:t>
            </a:r>
          </a:p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Pourquoi</a:t>
            </a:r>
          </a:p>
          <a:p>
            <a:pPr marL="12509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Forte prévalence des “non-desservis” et écart rural → marchés “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greenfield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où l’impact marginal par euro investi est maximal.</a:t>
            </a:r>
          </a:p>
          <a:p>
            <a:pPr marL="12509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Tendance mondiale à la hausse de l’accès mais poches qui stagnent : La création est la seule réponse pertinente.</a:t>
            </a:r>
          </a:p>
          <a:p>
            <a:pPr lvl="1">
              <a:lnSpc>
                <a:spcPct val="150000"/>
              </a:lnSpc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2)   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Modernisation de services existants </a:t>
            </a:r>
          </a:p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Où agir en premier</a:t>
            </a:r>
          </a:p>
          <a:p>
            <a:pPr marL="107791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Europe / Amériques / Océanie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Besoins de modernisation et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opportunité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notables (Europe : difficulté modérée ~45, opportunité ~45 ;  Amériques : difficulté ~46, opportunité ~60 ; Océanie : opportunité ~58).</a:t>
            </a:r>
          </a:p>
          <a:p>
            <a:pPr marL="107791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Asie urbaine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Bons taux d’accès mais écart qualité (Base vs 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sur métropoles en croissance.</a:t>
            </a:r>
          </a:p>
        </p:txBody>
      </p:sp>
    </p:spTree>
    <p:extLst>
      <p:ext uri="{BB962C8B-B14F-4D97-AF65-F5344CB8AC3E}">
        <p14:creationId xmlns:p14="http://schemas.microsoft.com/office/powerpoint/2010/main" val="51183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440F0-F890-A227-1DD0-2B70CF72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E9FDCA8-A454-1443-0CC6-7E0EA340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17414"/>
            <a:ext cx="11214100" cy="535531"/>
          </a:xfrm>
        </p:spPr>
        <p:txBody>
          <a:bodyPr rtlCol="0"/>
          <a:lstStyle/>
          <a:p>
            <a:r>
              <a:rPr lang="fr-FR" dirty="0"/>
              <a:t>Vue Mondiale (suite)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20B8E1A-0174-5E10-7AE7-2CF9B054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9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9958D7D-F25F-FEC0-4F6D-0CF4E43F674B}"/>
              </a:ext>
            </a:extLst>
          </p:cNvPr>
          <p:cNvSpPr txBox="1"/>
          <p:nvPr/>
        </p:nvSpPr>
        <p:spPr>
          <a:xfrm>
            <a:off x="202276" y="343452"/>
            <a:ext cx="11989724" cy="5881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Pourquoi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6366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 de base déjà élevé → L’enjeu devient la qualité (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la continuité et l’efficience.</a:t>
            </a:r>
          </a:p>
          <a:p>
            <a:pPr marL="1347788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Gains rapides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via réhabilitation et optimisation d’exploitation.</a:t>
            </a:r>
            <a:endParaRPr lang="fr-FR" sz="13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Consulting et politiques publiques</a:t>
            </a:r>
          </a:p>
          <a:p>
            <a:pPr>
              <a:lnSpc>
                <a:spcPct val="150000"/>
              </a:lnSpc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Où agir en premier</a:t>
            </a:r>
            <a:endParaRPr lang="fr-FR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09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Afrique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Forte difficulté/instabilité → Besoin </a:t>
            </a: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d’ingénierie amont 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(cadre PPP, subventions ciblées, tarification sociale).</a:t>
            </a:r>
          </a:p>
          <a:p>
            <a:pPr marL="12509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Amériques/Europe/Océanie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Appui réglementaire (normes qualité, </a:t>
            </a:r>
            <a:r>
              <a:rPr lang="fr-FR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structuration de marchés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(performance-</a:t>
            </a:r>
            <a:r>
              <a:rPr lang="fr-FR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contracts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Pourquoi</a:t>
            </a:r>
            <a:endParaRPr lang="fr-FR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09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goulets d’étranglement ne sont pas seulement techniques : Ils sont réglementaires, tarifaires, de gouvernance.</a:t>
            </a:r>
          </a:p>
          <a:p>
            <a:pPr marL="12509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L’opportunité est élevée là où les institutions peuvent absorber des réformes.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CI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Décisions proposées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Valider le continent prioritaire pour l’appel à projets (recommandation : </a:t>
            </a: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Afrique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comme premier vivier, Asie en second flux).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Fixer/Confirmer le “Seuil de stabilité</a:t>
            </a: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minimal (garde-fou d’exécution) pour l’éligibilité des pays.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Allouer une enveloppe par domaine au niveau monde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(majoritaire) pour réduire la population non desservie,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Modernisation pour fermer rapidement l’écart de qualité dans des pays déjà avancés,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Consulting ciblé pour sécuriser les contextes à fort potentiel mais risqués.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Exiger une short-</a:t>
            </a:r>
            <a:r>
              <a:rPr lang="fr-FR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pays (3–5) par continent avec : Besoin chiffré, faisabilité (stabilité ≥ seuil), estimation coût → personnes desservies et gain </a:t>
            </a:r>
            <a:r>
              <a:rPr lang="fr-FR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attendu.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Mandater la mise à jour trimestrielle des KPIs monde (Accès, Non-desservis, Mortalité, Ecart qualité) afin d’ajuster la priorisation et les enveloppes.</a:t>
            </a:r>
            <a:endParaRPr lang="fr-FR" sz="13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0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BEFB8-B844-AE79-3892-1458EC2B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8948FB7-A2C7-8E62-14F3-D81E5978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5" y="0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Vue Continentale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0F27A5C-51A0-279A-CFA7-9026838E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10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DDBB3C8-D2A9-4842-6130-3E49483DDFA6}"/>
              </a:ext>
            </a:extLst>
          </p:cNvPr>
          <p:cNvSpPr txBox="1"/>
          <p:nvPr/>
        </p:nvSpPr>
        <p:spPr>
          <a:xfrm>
            <a:off x="101138" y="434964"/>
            <a:ext cx="11989724" cy="624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que montre la vue CONTINENTALE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Répartition Urbain/Rural – Accès à l’eau : La segmentation par continent révèle des disparités marquées entre zones urbaines et rurales en matière d’accès à l’eau potable et met en évidence les écarts d’accès à l’eau selon le milieu. donc un risque d’inégalités territoriales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Top-10 populations non desservies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Classement des pays du continent par volume de personnes non desservies. C’est la priorisation “volume d’impact”.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Indicateurs critiques par pays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C’est la priorisation “risque/ faisabilité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(lorsque mortalité↑ et stabilité↓, le risque opérationnel est plus élevé)..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qualité (Accès de base vs Eau gérée en sécurité) : Montre l’écart entre accès général et qualité de gestion. Un écart élevé signale un besoin de modernisation qualité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O&amp;M plus que de création d’infrastructures.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que montrent les quatre visuels (et comment décider)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Où l’intervention peut-elle sauver le plus de vies rapidement ?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Top-10 non desservis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cibler 2-3 pays représentant la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 grande masse de personnes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sans service 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maximiser l’impact global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risque/effort est-il acceptable ?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Mortalité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élevée ⇒ bénéfice sanitaire rapide si l’on agit.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Stabilité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faible ⇒ prévoir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(sécurisation, partenariats, phasage).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 levier technique privilégier ?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faible (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Base≈Safely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⇒ Création (étendre la couverture).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élevé (Base &gt;&gt; 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⇒ Modernisation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O&amp;M (qualité, potabilisation, fiabilité).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hétérogène entre pays ⇒ Consulting/politiques publiques (standards, régulation, tarification sociale, PPP).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Où est le manque structurel ?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faible (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rural≈urbain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Compléter la couverture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rural-urbain &gt; 10 points et/ou % Rural &lt; 80 % → déficit rural prioritaire.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Urbain &lt; 90 % (réseaux saturés/obsolètes) → déficit urbain prioritaire, raccordements sociaux, réhabilitation, réduction des pertes.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deux &lt; seuils → déficit généralisé (rural + urbain) ⇒ phaser : sécuriser l’urbain critique, lancer des pôles ruraux.</a:t>
            </a:r>
          </a:p>
        </p:txBody>
      </p:sp>
    </p:spTree>
    <p:extLst>
      <p:ext uri="{BB962C8B-B14F-4D97-AF65-F5344CB8AC3E}">
        <p14:creationId xmlns:p14="http://schemas.microsoft.com/office/powerpoint/2010/main" val="3126906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86BE-B563-E6BB-3790-512D61CC7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BDC977D-45B0-D84A-6290-DA294257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5" y="0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Vue Continentale (suite)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982556F-A320-3473-0062-48C822F9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11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B224210-6EA2-B1A6-D89B-EADE29F63472}"/>
              </a:ext>
            </a:extLst>
          </p:cNvPr>
          <p:cNvSpPr txBox="1"/>
          <p:nvPr/>
        </p:nvSpPr>
        <p:spPr>
          <a:xfrm>
            <a:off x="101138" y="535531"/>
            <a:ext cx="11989724" cy="619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chemeClr val="bg1"/>
                </a:solidFill>
                <a:latin typeface="+mj-lt"/>
              </a:rPr>
              <a:t>Décision (à adapter au continent affiché) </a:t>
            </a:r>
            <a:endParaRPr lang="fr-FR" sz="1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arenR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Priorités d’impact (volume) 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Afrique (court terme 12–24 mois)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Pays cibles (Top-10 non desservis) :</a:t>
            </a:r>
            <a:b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plus gros gisements (barres les plus hautes) sont : Botswana (~6,8 k pers. non desservies), 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Djibouti (~5,2 k), Gabon (~3,9 k)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Palier 2 (toujours visibles dans le Top-10) :         </a:t>
            </a:r>
            <a:r>
              <a:rPr lang="fr-CI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Mayotte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(~3,9 k), </a:t>
            </a:r>
            <a:r>
              <a:rPr lang="fr-CI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Comores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(~1,9 k), </a:t>
            </a:r>
            <a:r>
              <a:rPr lang="fr-CI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Cap-Vert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(~1,6 k)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Recommandation opérationnelle : Ouvrir des discussions techniques avec Botswana, Djibouti et Gabon pour des 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micro-programmes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connexion (forages/points d’eau, adductions simplifiées, mini-réseaux) – objectifs chiffrés et calendrier à 12–18 mois.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Risque/effort: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Tchad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Somalie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apparaissent en mortalité/stabilité défavorables.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bascule ces pays dans un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canal humanitaire/mitigation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(sécurisation de points existants, partenariats ONG) plutôt que du pur déploiement d’infrastructures.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Ciblage “montée en qualité” (passage Base → Eau gérée en sécurité) : Botswana, Cap-Vert, Comores, Gabon : 82–85 % (base), barres foncées plus courtes →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qualité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 négligeable ; prioriser des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paquets “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Eau géré en sécurité“. Par contre Tunisie : 92 / 74 → écart ≈ 18 pp. Gros gisement sanitaire : Améliorer la qualité (traitement, chloration, contrôle, continuité) aura un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rapide.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&lt; 5 pp → Priorité extension (CREATION) si besoin démographique ; maintenir la qualité existante (O&amp;M léger)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5–15 pp → Priorité MODERNISATION/O&amp;M (traitement, chloration de bout de réseau, sectorisation, réduction de fuites, laboratoires, plans de sécurité sanitaire de l’eau).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Écart &gt; 15 pp → URGENCE QUALITÉ : paquet complet “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safely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managed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(potabilisation, contrôle microbiologique, continuité, stockage, kits de résilience), avant d’étendre la couverture.</a:t>
            </a:r>
          </a:p>
          <a:p>
            <a:pPr marL="685800" lvl="1" indent="-228600">
              <a:lnSpc>
                <a:spcPct val="150000"/>
              </a:lnSpc>
              <a:buAutoNum type="arabicParenR" startAt="3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&amp; conditions de succès (par lot décisionnel)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Vague 1 – Création d’accès (≤18 mois) : Botswana, Djibouti, Gabon.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Vague 2 – Création d’accès (back-up) : Mayotte, Comores, Cap-Vert.  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Piste qualité (</a:t>
            </a:r>
            <a:r>
              <a:rPr lang="fr-CI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Base→Safely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 Comores, Gabon, Cap-Vert, Botswana.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Volet mitigation/humanitaire : Tchad, Somalie, RDC, Éthiopie → sécurisation ciblée, phasage prudent. </a:t>
            </a:r>
          </a:p>
        </p:txBody>
      </p:sp>
    </p:spTree>
    <p:extLst>
      <p:ext uri="{BB962C8B-B14F-4D97-AF65-F5344CB8AC3E}">
        <p14:creationId xmlns:p14="http://schemas.microsoft.com/office/powerpoint/2010/main" val="9492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417"/>
            <a:ext cx="11214100" cy="535531"/>
          </a:xfrm>
        </p:spPr>
        <p:txBody>
          <a:bodyPr rtlCol="0"/>
          <a:lstStyle/>
          <a:p>
            <a:pPr rtl="0"/>
            <a:r>
              <a:rPr lang="fr-FR" dirty="0"/>
              <a:t>Vue Pays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12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31CBDAA-2293-7857-294E-39758717884F}"/>
              </a:ext>
            </a:extLst>
          </p:cNvPr>
          <p:cNvSpPr txBox="1"/>
          <p:nvPr/>
        </p:nvSpPr>
        <p:spPr>
          <a:xfrm>
            <a:off x="202276" y="437444"/>
            <a:ext cx="11989724" cy="6314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que montre la vue PAYS (Tchad)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Tendance nationale : L’accès à l’eau progresse dans le temps, mais l’« eau gérée en sécurité » reste en retrait → enjeu de qualité de service.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Milieu urbain vs rural : Un écart marqué en faveur de l’urbain; le rural demeure significativement en dessous → priorité d’équité territoriale.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par domaine : La Création de services et le Consulting/Politiques ressortent comme leviers pertinents; la Modernisation est faible à nulle → la priorité n’est pas la rénovation de réseaux existants mais l’extension et le cadrage réglementaire.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Stabilité &amp; Efficacité : Le pays se situe en stabilité politico-opérationnelle moyenne-faible et efficacité modérée; les bulles grises positionnent des pairs du même continent pour situer l’ambition réaliste. Taille de bulle = population (donc impact potentiel).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que montrent les visuels (et comment l’utiliser)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arenR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Évolution de l’accès &amp; eau gérée en sécurité  : Écart persistant entre « accès de base » et « eau en sécurité » = besoin de qualité (chloration, )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arenR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urbaine vs rurale – Accès  : L’urbain dépasse le rural cibler villages/chefferies et centres secondaires en premier déploiement.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arenR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Scores domaine (Création | Consulting | Modernisation)  : Barres hautes = rendement d’investissement plus élevé dans le contexte actuel.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arenR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Nuage Stabilité × Efficacité :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stabilité faible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prévoir mesures de mitigation (phasing, partenariats d’exécution, garanties d’O&amp;M, lots plus petits).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CI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Décision proposée (pays affiché)</a:t>
            </a:r>
          </a:p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Objectif 12–24 mois :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Maximiser les personnes nouvellement desservies en réduisant l’écart rural, sans dégrader la qualité.</a:t>
            </a:r>
            <a:endParaRPr lang="fr-FR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Portefeuille d’actions par domaine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services (Priorité 1) 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Forages équipés + mini-adductions solaires dans zones rurales à forte densité; 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 d’eau améliorés dans centres secondaires; 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Ciblage à partir des sous-préfectures combinant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faible accès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demande latente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(écoles/centres de santé).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Consulting / Politiques publiques (Priorité 2) 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Cadre de maintenance et pièces de rechange (contrats O&amp;M régionaux, assistance aux comités d’eau); 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Normes qualité et schémas de surveillance (tests périodiques, </a:t>
            </a:r>
            <a:r>
              <a:rPr lang="fr-FR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37427-BD5F-2DA5-6333-BBCCE876A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92A3E52-7640-F266-9C9F-83F81B4C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7417"/>
            <a:ext cx="11214100" cy="535531"/>
          </a:xfrm>
        </p:spPr>
        <p:txBody>
          <a:bodyPr rtlCol="0"/>
          <a:lstStyle/>
          <a:p>
            <a:pPr rtl="0"/>
            <a:r>
              <a:rPr lang="fr-FR"/>
              <a:t>Vue Pays (suite)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189F5CF-D702-7038-0899-F5F63474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fr-FR" smtClean="0"/>
              <a:pPr rtl="0"/>
              <a:t>13</a:t>
            </a:fld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A19BF27-90A1-FA27-9AEE-2D929B7366B9}"/>
              </a:ext>
            </a:extLst>
          </p:cNvPr>
          <p:cNvSpPr txBox="1"/>
          <p:nvPr/>
        </p:nvSpPr>
        <p:spPr>
          <a:xfrm>
            <a:off x="202276" y="437444"/>
            <a:ext cx="11989724" cy="476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Modernisation (reportée / ciblée) 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Interventions ponctuelles uniquement sur actifs critiques urbains à haut risque sanitaire (chloration, réservoirs), pas de programme massif. 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Réduction des risques &amp; exécution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Phasage par lots géographiques, mécanisme de paiement à la performance (mise en service + preuve de potabilisation);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Partenaires locaux pour O&amp;M, formation des fontainiers;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Suivi trimestriel de l’écart qualité (base vs « sécurisée ») comme KPI d’alerte. 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 Ciblage à partir des sous-préfectures combinant faible accès + demande latente (écoles/centres de santé).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70–80 % des investissements vers rural/centres secondaires;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X nouveaux points d’eau/mini-réseaux (dimensionnés selon le budget disponible);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 pp sur « eau en sécurité » dans les districts ciblés d’ici 18–24 mois. </a:t>
            </a:r>
          </a:p>
          <a:p>
            <a:pPr lvl="1"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CI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 de succès </a:t>
            </a: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Approvisionnement garanti en consommables de potabilisation;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 en place d’un tableau de bord local (surveillance qualité, pannes, temps de rétablissement);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avec santé/éducation pour coupler les investissements (effet sanitaire accéléré).</a:t>
            </a:r>
          </a:p>
          <a:p>
            <a:pPr>
              <a:lnSpc>
                <a:spcPct val="150000"/>
              </a:lnSpc>
            </a:pP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le Tchad, la valeur ajoutée la plus forte vient d’étendre la couverture rurale tout en sécurisant la qualité via des dispositifs d’O&amp;M et de contrôle. La modernisation lourde de réseaux existants n’est pas prioritaire à ce stade; l’enjeu est d’abord accès + qualité dans les zones sous-desservies, avec une exécution phasée et sécurisée.</a:t>
            </a:r>
          </a:p>
        </p:txBody>
      </p:sp>
    </p:spTree>
    <p:extLst>
      <p:ext uri="{BB962C8B-B14F-4D97-AF65-F5344CB8AC3E}">
        <p14:creationId xmlns:p14="http://schemas.microsoft.com/office/powerpoint/2010/main" val="428643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498_TF66687569" id="{787900FF-6872-4441-B598-37355B1445EE}" vid="{F772BB80-56EE-4656-A7E3-611E117A189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http://purl.org/dc/terms/"/>
    <ds:schemaRef ds:uri="fb0879af-3eba-417a-a55a-ffe6dcd6ca7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bleue moderne</Template>
  <TotalTime>2694</TotalTime>
  <Words>3184</Words>
  <Application>Microsoft Office PowerPoint</Application>
  <PresentationFormat>Grand écran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Courier New</vt:lpstr>
      <vt:lpstr>Times New Roman</vt:lpstr>
      <vt:lpstr>Trade Gothic LT Pro</vt:lpstr>
      <vt:lpstr>Trebuchet MS</vt:lpstr>
      <vt:lpstr>Wingdings</vt:lpstr>
      <vt:lpstr>Thème Office</vt:lpstr>
      <vt:lpstr>ETUDE D’ACCÈS À L’EAU POTABLE</vt:lpstr>
      <vt:lpstr>Contexte et enjeux</vt:lpstr>
      <vt:lpstr>Contexte et enjeux</vt:lpstr>
      <vt:lpstr>Pré-traitements des données</vt:lpstr>
      <vt:lpstr>Pré-traitements des données</vt:lpstr>
      <vt:lpstr>Blueprint</vt:lpstr>
      <vt:lpstr>Raisons du choix de la visualisation pour les vues multi-niveaux</vt:lpstr>
      <vt:lpstr>Vue Mondiale</vt:lpstr>
      <vt:lpstr>Vue Mondiale (suite)</vt:lpstr>
      <vt:lpstr>Vue Continentale</vt:lpstr>
      <vt:lpstr>Vue Continentale (suite)</vt:lpstr>
      <vt:lpstr>Vue Pays</vt:lpstr>
      <vt:lpstr>Vue Pays (suite)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BROVOU, JUNIOR</dc:creator>
  <cp:lastModifiedBy>Junior Brovou</cp:lastModifiedBy>
  <cp:revision>10</cp:revision>
  <dcterms:created xsi:type="dcterms:W3CDTF">2025-11-04T08:56:32Z</dcterms:created>
  <dcterms:modified xsi:type="dcterms:W3CDTF">2025-11-27T00:20:27Z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